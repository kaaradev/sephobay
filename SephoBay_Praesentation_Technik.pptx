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Anteil</c:v>
                </c:pt>
              </c:strCache>
            </c:strRef>
          </c:tx>
          <c:spPr>
            <a:solidFill>
              <a:srgbClr val="8FA6D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6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6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6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6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2.1</c:v>
                </c:pt>
                <c:pt idx="2">
                  <c:v>4.5</c:v>
                </c:pt>
                <c:pt idx="3">
                  <c:v>16.6</c:v>
                </c:pt>
                <c:pt idx="4">
                  <c:v>74.9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Test-MAE</c:v>
                </c:pt>
              </c:strCache>
            </c:strRef>
          </c:tx>
          <c:spPr>
            <a:solidFill>
              <a:srgbClr val="8FA6D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6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6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6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6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Immer 5</c:v>
                  </c:pt>
                  <c:pt idx="1">
                    <c:v>Stufe 1: Backbone</c:v>
                  </c:pt>
                  <c:pt idx="2">
                    <c:v>+ Stufe 2: Korrekturen</c:v>
                  </c:pt>
                  <c:pt idx="3">
                    <c:v>globale Rundungsschwelle</c:v>
                  </c:pt>
                  <c:pt idx="4">
                    <c:v>Verteilung + Entscheidung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0.371</c:v>
                </c:pt>
                <c:pt idx="1">
                  <c:v>0.325</c:v>
                </c:pt>
                <c:pt idx="2">
                  <c:v>0.305</c:v>
                </c:pt>
                <c:pt idx="3">
                  <c:v>0.2895</c:v>
                </c:pt>
                <c:pt idx="4">
                  <c:v>0.265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B1F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Heute zeigen wir, WIE unser Recommender System funktioniert — Stufe für Stufe, von den Rohdaten bis zur fertigen Sterne-Vorhersage. Das Ergebnis vorab: 0,265 mittlerer absoluter Fehler auf dem Testdatensatz. Der Weg dorthin besteht aus vier Stufen, die wir jetzt einzeln öffnen.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die Aufgabe: Für jedes Nutzer-Produkt-Paar sagen wir ganze Sterne vorher; bewertet wird der mittlere absolute Fehler NACH Rundung. 798 Nutzer, 622 Produkte, knapp 25.000 Bewertungen — nur 5 % der Matrix ist gefüllt. Und die zentrale Eigenschaft der Daten: 75 % aller Bewertungen sind 5 Sterne. Immer-5 liegt schon bei 0,37. Das macht die Aufgabe zum Entscheidungsproblem: Wann weichen wir von der 5 ab?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Architektur auf einen Blick. Zwei Eingaben: die Bewertungen und die Produktprofile. Stufe 1 ist ein Bias-Modell als Rückgrat. Stufe 2 korrigiert dessen Residuen mit Collaborative Filtering und Content-Ähnlichkeit. Stufe 3 bündelt alle Signale in einem Modell, das die volle Sterne-Verteilung lernt. Und Stufe 4 wählt daraus pro Paar den Stern mit dem kleinsten erwarteten Fehler. Jede Stufe schauen wir uns jetzt kurz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1, das Rückgrat: globaler Durchschnitt 4,61 plus zwei gelernte Tendenzen — wie streng bewertet dieser Nutzer, wie gut kommt dieses Produkt an. Der Nenner n+λ ist die Regularisierung: bei wenigen Bewertungen wird die Tendenz Richtung 0 gedämpft, eine einzelne Ausreißer-Bewertung kippt nichts. Unbekannte Nutzer oder Produkte fallen automatisch auf den Durchschnitt zurück — das löst den Kaltstart. Dieses einfache Modell allein schafft schon 0,325.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2 arbeitet auf den Residuen — also nur auf dem, was das Backbone noch nicht erklärt. Links das klassische Item-CF: Ähnlichkeit über gemeinsame Bewertungen, mit Mindest-Überlappung 3. Rechts der Kreativ-Baustein: Content-Filtering liefert eigentlich keine Sterne — wir machen die Produktähnlichkeit zum GEWICHT über die eigenen früheren Residuen des Nutzers. Ins Profil fließen Kategorie, Marke, Preis, 634 Inhaltsstoffe und der TF-IDF-Vektor des Produktnamens. Zusammen bringt das den MAE von 0,325 auf 0,305 — vor allem dort, wo CF wegen der dünnen Matrix keine Nachbarn findet.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3 bündelt alles: 17 Merkmale pro Paar — die vier Signale aus den Stufen 1 und 2, einfache Nutzer- und Produkt-Statistiken wie der Anteil an 5ern, und die Affinität des Nutzers zur Kategorie und Marke des Zielprodukts: seine Ø-Bewertung und Anzahl genau in dieser Produktkategorie und -marke. So sieht das Modell die Gruppen-Vorliebe direkt statt nur indirekt über die Content-Nachbarn. Darauf trainieren wir einen Gradient-Boosting-Klassifikator, der die volle Verteilung über 1 bis 5 Sterne ausgibt; fünf Seeds werden gemittelt. Entscheidend ist das Out-of-fold-Prinzip: Die Merkmale jedes Ratings stammen aus Daten, die dieses Rating nie gesehen haben, also kein Leakage. So trainieren wir ehrlich auf allen 24.892 Zeilen.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4 ist der größte Hebel. Statt zu runden, rechnen wir für jeden Kandidaten-Stern den erwarteten Fehler unter der Verteilung aus und nehmen das Minimum — das ist mathematisch der Median der Verteilung und für den MAE optimal. Die zwei Beispiele: Beim treuen Fan liegt fast alle Masse auf der 5 — Entscheidung 5. Bei der strengen Kundin mit schwachem Produkt kippt der erwartete Fehler zur 4, obwohl die 5 gut möglich bleibt. Eine starre Rundungsschwelle — auch eine getunte wie 4,3 — ist nur der Spezialfall; hier bekommt jedes Paar seine eigene Grenze. Beitrag: 0,305 auf 0,265.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Ergebnis als Treppe: Immer-5 0,371, das Backbone 0,325, die Korrekturen 0,305, eine global getunte Rundungsschwelle 0,29 — und die volle Verteilung mit optimaler Entscheidung schließlich 0,265. Zur Absicherung nur kurz: Der Vorsprung hält einem Bootstrap-Konfidenzintervall stand, das die Null ausschließt, und repliziert Out-of-fold über mehrere Seeds, ohne den Testdatensatz anzufassen; neun alternative Modellfamilien haben wir geprüft — keine war besser. Und zur Einordnung: Auf 3.000 Testzeilen streut ein MAE um etwa ±0,02.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Fazit: Das Bias-Modell trägt den Großteil, die Content-Ähnlichkeit und die Kategorie-/Marke-Affinität personalisieren trotz dünner Matrix, und der größte Hebel ist die Entscheidungslogik — Verteilung statt Punktschätzung, kleinster erwarteter Fehler statt Rundung. 0,265 Test-MAE. Unsere Empfehlung an den Vorstand: einsetzen. Vielen Dank — wir freuen uns auf Fragen.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65099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P(1) P(2) P(3) P(4) P(5)  →  stars = argmin_k Σ P(j)·|k−j|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5650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SephoBay  ·  16.07.2026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GRUPPENPROJEKT · UNIVERSITÄT ULM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SephoBay Recommender: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 der Haube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24.892 Bewertungen zur MAE-optimalen Sterne-Entscheidung — in vier Stufen.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1605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0,265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22960" y="4956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Test-MAE (gerundete Sterne)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&amp; DATEN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Gerundete Sterne, schiefe Verteilung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141B45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1/N · Σ |r − round(pred)|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liefern ganze Sterne (0–5). </a:t>
            </a:r>
            <a:pPr indent="0" marL="0"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Gerundet wird vor der Fehlerrechnung — die Rundung gehört also uns. Das wird Stufe 4.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657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Nutzer:innen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356616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EEF3FC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3657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37560" y="42062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46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24.892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" y="53949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47548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4846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5,0 %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37560" y="53949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Matrix-Dichte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160020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7830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75 %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681228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Bewertungen sind 5 Sterne.</a:t>
            </a:r>
            <a:endParaRPr lang="en-US" sz="15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766560" y="3108960"/>
          <a:ext cx="457200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6812280" y="48006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Regressions-, sondern ein Entscheidungsproblem — „5 oder nicht 5?“  Immer-5-Baseline: MAE 0,37.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 — Technik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Stufen von den Rohdaten zum Stern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Ratings.csv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461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Itemprofile.csv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965960"/>
            <a:ext cx="2212848" cy="2606040"/>
          </a:xfrm>
          <a:prstGeom prst="roundRect">
            <a:avLst>
              <a:gd name="adj" fmla="val 4132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213055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97480" y="24048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Bias-Backbone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97480" y="301752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DDE7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3017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μ + b_u + b_i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3593592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Nutzer- &amp; Produkt-Tendenz, regularisiert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00016" y="3017520"/>
            <a:ext cx="219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873752" y="1965960"/>
            <a:ext cx="2212848" cy="2606040"/>
          </a:xfrm>
          <a:prstGeom prst="roundRect">
            <a:avLst>
              <a:gd name="adj" fmla="val 4132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56632" y="213055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56632" y="24048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Residual-Korrekturen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56632" y="301752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DDE7F8"/>
          </a:solidFill>
          <a:ln/>
        </p:spPr>
      </p:sp>
      <p:sp>
        <p:nvSpPr>
          <p:cNvPr id="19" name="Text 17"/>
          <p:cNvSpPr/>
          <p:nvPr/>
        </p:nvSpPr>
        <p:spPr>
          <a:xfrm>
            <a:off x="5056632" y="3017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r − pred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56632" y="3593592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Item-CF + Content-Ähnlichkeit korrigieren personalisiert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59168" y="3017520"/>
            <a:ext cx="219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32904" y="1965960"/>
            <a:ext cx="2212848" cy="2606040"/>
          </a:xfrm>
          <a:prstGeom prst="roundRect">
            <a:avLst>
              <a:gd name="adj" fmla="val 4132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15784" y="213055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15784" y="24048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Verteilungsmodell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415784" y="301752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DDE7F8"/>
          </a:solidFill>
          <a:ln/>
        </p:spPr>
      </p:sp>
      <p:sp>
        <p:nvSpPr>
          <p:cNvPr id="26" name="Text 24"/>
          <p:cNvSpPr/>
          <p:nvPr/>
        </p:nvSpPr>
        <p:spPr>
          <a:xfrm>
            <a:off x="7415784" y="3017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P(1) … P(5)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15784" y="3593592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auf 13 Out-of-fold-Merkmalen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418320" y="3017520"/>
            <a:ext cx="219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592056" y="1965960"/>
            <a:ext cx="2212848" cy="2606040"/>
          </a:xfrm>
          <a:prstGeom prst="roundRect">
            <a:avLst>
              <a:gd name="adj" fmla="val 413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774936" y="213055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774936" y="24048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9774936" y="301752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141B45"/>
          </a:solidFill>
          <a:ln/>
        </p:spPr>
      </p:sp>
      <p:sp>
        <p:nvSpPr>
          <p:cNvPr id="33" name="Text 31"/>
          <p:cNvSpPr/>
          <p:nvPr/>
        </p:nvSpPr>
        <p:spPr>
          <a:xfrm>
            <a:off x="9774936" y="3017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argmin_k Σ P(j)·|k−j|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74936" y="3593592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 mit kleinstem erwarteten Fehler — pro Paar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17627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023360" y="4983480"/>
            <a:ext cx="4114800" cy="594360"/>
          </a:xfrm>
          <a:prstGeom prst="roundRect">
            <a:avLst>
              <a:gd name="adj" fmla="val 49231"/>
            </a:avLst>
          </a:pr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4023360" y="49834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Ausgabe: ganzzahlige Sterne 0–5, eine Zeile pro Testpaar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Stufen 1–2 erzeugen die Signale, Stufe 3 bündelt sie zur Wahrscheinlichkeitsverteilung, Stufe 4 macht daraus die metrik-optimale Wahl.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 — Technik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1 · BIAS-BACKBONE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bewertet wie — was wird wie bewertet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78440" y="43891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0" y="438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STUFE 1 /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577840" cy="2286000"/>
          </a:xfrm>
          <a:prstGeom prst="roundRect">
            <a:avLst>
              <a:gd name="adj" fmla="val 3600"/>
            </a:avLst>
          </a:prstGeom>
          <a:solidFill>
            <a:srgbClr val="141B45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9164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pred(u,i) = μ + b_u + b_i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b_u = Σ (r_ui − μ)        / (n_u + λ)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b_i = Σ (r_ui − μ − b_u)  / (n_i + λ)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5577840" cy="960120"/>
          </a:xfrm>
          <a:prstGeom prst="roundRect">
            <a:avLst>
              <a:gd name="adj" fmla="val 9524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2062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 schon stark:  </a:t>
            </a:r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Test-MAE 0,325</a:t>
            </a:r>
            <a:pPr indent="0" marL="0">
              <a:buNone/>
            </a:pPr>
            <a:r>
              <a:rPr lang="en-US" sz="14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(Baseline „immer 5“: 0,371)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92240" y="1691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 = 4,61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98424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Globaler Durchschnitt — der Startpunkt jeder Vorhersage.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6060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b_u — Nutzer-Tendenz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89864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streng bewertet, bekommt einen Abschlag; großzügige Rater einen Aufschlag.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35204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b_i — Produkt-Tendenz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81304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Beliebte Produkte liegen über dem Schnitt, schwache darunter.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44348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= 20 — Regularisierung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72744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 Bewertungen → Tendenz wird Richtung 0 gedämpft. Unbekannt → 0: automatischer Kaltstart-Fallback auf μ.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 — Technik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2 · RESIDUAL-KORREKTUREN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 und Content korrigieren, was das Backbone übrig lässt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78440" y="43891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0" y="438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STUFE 2 /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41B45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45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res(u,i) = r(u,i) − pred(u,i)     →  Korrekturen lernen nur den Rest, nicht die Sterne selbst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743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Item-CF auf Residuen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Cosine-Ähnlichkeit zweier Produkte über gemeinsam bewertende Nutzer:innen (Überlappung ≥ 3, nur positive Ähnlichkeiten). Korrektur = gewichtetes Mittel der Residuen des Nutzers auf den k = 10 ähnlichsten Produkten.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56032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743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Content-Ähnlichkeit als Sterne-Korrektur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315468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Produktprofil aus Kategorie, Marke, log-Preis, 634 Inhaltsstoff-Flags + TF-IDF des Produktnamens (Mix 0,7 / 0,3). Für (u,i): die k = 5 content-ähnlichsten Produkte, die u schon bewertet hat — deren Residuen, ähnlichkeitsgewichtet, ergeben die Korrektur.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16636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Kreativ-Baustein aus dem Briefing: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Ähnlichkeit wird zum Gewicht — so kann Content-Filtering Sterne vorhersagen.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41080" y="5166360"/>
            <a:ext cx="2971800" cy="777240"/>
          </a:xfrm>
          <a:prstGeom prst="roundRect">
            <a:avLst>
              <a:gd name="adj" fmla="val 11765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51663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Beitrag: </a:t>
            </a:r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0,325 → 0,305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 — Technik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3 · VERTEILUNGSMODELL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Modell lernt die volle Sterne-Verteilung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78440" y="43891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0" y="438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STUFE 3 /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Merkmale je (Nutzer, Produkt)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48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 der Stufen 1–2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Backbone-Score · Item-CF- · User-CF- · Content-Korrektur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EF3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815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Nutzer- &amp; Produkt-Statistiken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35584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Ø, Streuung, Anzahl, Anteil 5er, Anteil ≤ 3er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142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Affinität Nutzer × Kategorie / Marke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288536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Ø-Bewertung &amp; Anzahl des Nutzers in Kategorie und Marke des Zielprodukts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141B45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0292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GradientBoosting (5 Seeds, gemittelt)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P(1), P(2), P(3), P(4), P(5)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Ehrliche Trainingsdaten: Out-of-fold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2148840"/>
            <a:ext cx="93268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14884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79792" y="2148840"/>
            <a:ext cx="93268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479792" y="214884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58784" y="2148840"/>
            <a:ext cx="932688" cy="777240"/>
          </a:xfrm>
          <a:prstGeom prst="roundRect">
            <a:avLst>
              <a:gd name="adj" fmla="val 9412"/>
            </a:avLst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8558784" y="214884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37776" y="2148840"/>
            <a:ext cx="93268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637776" y="214884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716768" y="2148840"/>
            <a:ext cx="93268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0716768" y="214884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1546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Merkmale für Fold 3 berechnen Modelle, die ohne Fold 3 trainiert wurden </a:t>
            </a:r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kein Rating sieht sein eigenes Modell (kein Leakage).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41605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75120" y="43434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24.892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675120" y="49834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 Trainingszeilen für das Verteilungsmodell — statt eines einzelnen 3.700-Zeilen-Validierungssplits.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 — Technik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4 · ENTSCHEIDUNG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Erwarteter Fehler statt Rundung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78440" y="43891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0" y="438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STUFE 4 /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41B45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459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stars(u,i) = argmin_k  Σ_j P(j) · |k − j|        (= Median der Verteilung — MAE-optimal)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394960" cy="260604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7889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Treuer Fan × Lieblingsmarke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4663440"/>
            <a:ext cx="566928" cy="45720"/>
          </a:xfrm>
          <a:prstGeom prst="rect">
            <a:avLst/>
          </a:prstGeom>
          <a:solidFill>
            <a:srgbClr val="8FA6D9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43891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47457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783080" y="4663440"/>
            <a:ext cx="566928" cy="45720"/>
          </a:xfrm>
          <a:prstGeom prst="rect">
            <a:avLst/>
          </a:prstGeom>
          <a:solidFill>
            <a:srgbClr val="8FA6D9"/>
          </a:solidFill>
          <a:ln/>
        </p:spPr>
      </p:sp>
      <p:sp>
        <p:nvSpPr>
          <p:cNvPr id="14" name="Text 12"/>
          <p:cNvSpPr/>
          <p:nvPr/>
        </p:nvSpPr>
        <p:spPr>
          <a:xfrm>
            <a:off x="1673352" y="43891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47457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06040" y="4659782"/>
            <a:ext cx="566928" cy="49378"/>
          </a:xfrm>
          <a:prstGeom prst="rect">
            <a:avLst/>
          </a:prstGeom>
          <a:solidFill>
            <a:srgbClr val="8FA6D9"/>
          </a:solidFill>
          <a:ln/>
        </p:spPr>
      </p:sp>
      <p:sp>
        <p:nvSpPr>
          <p:cNvPr id="17" name="Text 15"/>
          <p:cNvSpPr/>
          <p:nvPr/>
        </p:nvSpPr>
        <p:spPr>
          <a:xfrm>
            <a:off x="2496312" y="438546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06040" y="47457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29000" y="4379976"/>
            <a:ext cx="566928" cy="329184"/>
          </a:xfrm>
          <a:prstGeom prst="rect">
            <a:avLst/>
          </a:prstGeom>
          <a:solidFill>
            <a:srgbClr val="8FA6D9"/>
          </a:solidFill>
          <a:ln/>
        </p:spPr>
      </p:sp>
      <p:sp>
        <p:nvSpPr>
          <p:cNvPr id="20" name="Text 18"/>
          <p:cNvSpPr/>
          <p:nvPr/>
        </p:nvSpPr>
        <p:spPr>
          <a:xfrm>
            <a:off x="3319272" y="410565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47457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51960" y="3474720"/>
            <a:ext cx="5669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4142232" y="320040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51960" y="47457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77640" y="27889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977640" y="2788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Entscheidung: 5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2697480"/>
            <a:ext cx="5394960" cy="260604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37960" y="27889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Strenge Kundin × schwaches Produkt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75120" y="4626864"/>
            <a:ext cx="566928" cy="82296"/>
          </a:xfrm>
          <a:prstGeom prst="rect">
            <a:avLst/>
          </a:prstGeom>
          <a:solidFill>
            <a:srgbClr val="8FA6D9"/>
          </a:solidFill>
          <a:ln/>
        </p:spPr>
      </p:sp>
      <p:sp>
        <p:nvSpPr>
          <p:cNvPr id="30" name="Text 28"/>
          <p:cNvSpPr/>
          <p:nvPr/>
        </p:nvSpPr>
        <p:spPr>
          <a:xfrm>
            <a:off x="6565392" y="435254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75120" y="47457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98080" y="4544568"/>
            <a:ext cx="566928" cy="164592"/>
          </a:xfrm>
          <a:prstGeom prst="rect">
            <a:avLst/>
          </a:prstGeom>
          <a:solidFill>
            <a:srgbClr val="8FA6D9"/>
          </a:solidFill>
          <a:ln/>
        </p:spPr>
      </p:sp>
      <p:sp>
        <p:nvSpPr>
          <p:cNvPr id="33" name="Text 31"/>
          <p:cNvSpPr/>
          <p:nvPr/>
        </p:nvSpPr>
        <p:spPr>
          <a:xfrm>
            <a:off x="7388352" y="427024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98080" y="47457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1040" y="4379976"/>
            <a:ext cx="566928" cy="329184"/>
          </a:xfrm>
          <a:prstGeom prst="rect">
            <a:avLst/>
          </a:prstGeom>
          <a:solidFill>
            <a:srgbClr val="8FA6D9"/>
          </a:solidFill>
          <a:ln/>
        </p:spPr>
      </p:sp>
      <p:sp>
        <p:nvSpPr>
          <p:cNvPr id="36" name="Text 34"/>
          <p:cNvSpPr/>
          <p:nvPr/>
        </p:nvSpPr>
        <p:spPr>
          <a:xfrm>
            <a:off x="8211312" y="410565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321040" y="47457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144000" y="4050792"/>
            <a:ext cx="566928" cy="6583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9034272" y="377647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144000" y="47457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966960" y="4297680"/>
            <a:ext cx="566928" cy="411480"/>
          </a:xfrm>
          <a:prstGeom prst="rect">
            <a:avLst/>
          </a:prstGeom>
          <a:solidFill>
            <a:srgbClr val="8FA6D9"/>
          </a:solidFill>
          <a:ln/>
        </p:spPr>
      </p:sp>
      <p:sp>
        <p:nvSpPr>
          <p:cNvPr id="42" name="Text 40"/>
          <p:cNvSpPr/>
          <p:nvPr/>
        </p:nvSpPr>
        <p:spPr>
          <a:xfrm>
            <a:off x="9857232" y="40233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966960" y="47457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692640" y="27889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9692640" y="2788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Entscheidung: 4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Starre Rundung (Schwelle 4,5) und eine global getunte Schwelle (4,3) sind Spezialfälle — hier bekommt jedes Paar seine eigene Entscheidungsgrenze.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 — Technik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0,265 Test-MAE — jede Stufe zahlt ein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783080"/>
          <a:ext cx="7406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32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0,265 heißt: im Schnitt &lt; 0,27 Sterne daneben — 28 % besser als „immer 5“ (0,37).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Treppe: Baseline · Stufen 1–2 · naive globale Schwelle · volle Verteilung + Entscheidung (Stufen 3–4).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046720" y="17830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2104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 zur Absicherung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21040" y="242316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Bootstrap-95%-Intervall bestätigt: das Ergebnis ist kein Zufall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 über mehrere Seeds repliziert — Testdatensatz bleibt unberührt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alternative Modellfamilien (SVD, MLP, Clustering …): 0,30–0,35, keine besser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Einordnung: Test-MAE streut um ± 0,02 (Stichprobe von ~3.000 Zeilen)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 — Technik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μ + b_u + b_i   →   res   →   P(1..5)   →   argmin erwarteter Fehler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Verteilung statt Punktschätzung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68680" y="231343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1945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regularisiertes Bias-Modell erklärt den Großteil — einfach, robust, kaltstart-fest.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304495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9260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Nutzer×Kategorie/Marke-Affinität als direkte Merkmale personalisieren die Vorhersage zusätzlich.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77647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576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größte Hebel ist die Entscheidungslogik: volle Sterne-Verteilung + kleinster erwarteter Fehler pro Paar.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50799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3891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Empfehlung: produktiv einsetzen — relevantere Empfehlungen, mehr Zufriedenheit und Kundenbindung.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35440" y="233172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E22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0,265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235440" y="34747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Test-MAE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Vielen Dank — Fragen?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SephoBay Recommender — Technik</dc:title>
  <dc:subject>PptxGenJS Presentation</dc:subject>
  <dc:creator>Gruppe SephoBay</dc:creator>
  <cp:lastModifiedBy>Gruppe SephoBay</cp:lastModifiedBy>
  <cp:revision>1</cp:revision>
  <dcterms:created xsi:type="dcterms:W3CDTF">2026-07-03T00:46:24Z</dcterms:created>
  <dcterms:modified xsi:type="dcterms:W3CDTF">2026-07-03T00:46:24Z</dcterms:modified>
</cp:coreProperties>
</file>
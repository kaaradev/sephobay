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A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2.1</c:v>
                </c:pt>
                <c:pt idx="2">
                  <c:v>4.5</c:v>
                </c:pt>
                <c:pt idx="3">
                  <c:v>16.6</c:v>
                </c:pt>
                <c:pt idx="4">
                  <c:v>74.9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E2A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7E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Test-MAE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2E2A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Immer 5</c:v>
                  </c:pt>
                  <c:pt idx="1">
                    <c:v>Bias-Backbone</c:v>
                  </c:pt>
                  <c:pt idx="2">
                    <c:v>+ Korrekturen</c:v>
                  </c:pt>
                  <c:pt idx="3">
                    <c:v>globale Rundungsschwelle</c:v>
                  </c:pt>
                  <c:pt idx="4">
                    <c:v>Verteilung + Entscheidung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0.371</c:v>
                </c:pt>
                <c:pt idx="1">
                  <c:v>0.325</c:v>
                </c:pt>
                <c:pt idx="2">
                  <c:v>0.305</c:v>
                </c:pt>
                <c:pt idx="3">
                  <c:v>0.2895</c:v>
                </c:pt>
                <c:pt idx="4">
                  <c:v>0.265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300" u="none">
                  <a:solidFill>
                    <a:srgbClr val="2E2A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E2A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Wir präsentieren unser Recommender System für SephoBay. Ziel war die bestmögliche Bewertungsvorhersage, gemessen am MAE in Sternen. Unser Ergebnis: 0,265 Test-MAE — wir zeigen heute, wie wir dahin kamen und warum das nahe am Optimum liegt.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Geschäftslage: Kundenbindung leidet, weil Nutzer relevante Produkte nicht finden. Der Auftrag ist ein Recommender. Entscheidend für den Wettbewerb: die Zielgröße ist der MAE in Sternen, und zwar GERUNDET auf ganze Sterne. Diese Rundung ist später unser wichtigster Hebel.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798 Nutzer, 622 Produkte, knapp 25.000 Bewertungen, Skala 0 bis 5. Die wichtigste Beobachtung: 75% aller Bewertungen sind 5 Sterne. Dadurch ist 'immer 5 raten' schon bei MAE 0,37. Nach dem Runden zählt nicht Feinheit, sondern die Entscheidung 5-oder-nicht. Daran richtet sich unser ganzer Ansatz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Bausteine: 1) Bias-Modell als robuste Basis. 2) Korrekturen für Personalisierung — ähnliche Produkte und Nutzer sowie die Affinität zu Kategorie und Marke. 3) Ein Modell, das daraus die volle Sterne-Verteilung schätzt. 4) Die metrik-optimale Entscheidung pro Paar. Alles steckt in einer Funktion predict(user, item), die wir für jede Testzeile aufrufen.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kreative Schritte. Erstens: Content-Filtering gibt keine Sterne aus — wir nutzen die Produktähnlichkeit als Gewicht über die eigenen Bewertungen der Nutzerin. Das ist die im Briefing ausdrücklich gewünschte kreative Idee. Zweitens, und das ist der größte Hebel: die Entscheidung. Das Modell gibt die volle Sterne-Verteilung aus, und wir wählen pro Paar den Stern mit dem kleinsten erwarteten Fehler statt starr zu runden — das senkt den Test-MAE von 0,305 auf 0,265.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Kernergebnis: 0,265 Test-MAE. Zum Vergleich: 'immer 5' liegt bei 0,37, die reinen Kurs-Methoden bei 0,31. Die Treppe zeigt den Beitrag jedes Schritts: Bias-Backbone bringt den größten Sprung, die Korrekturen verfeinern, und die Entscheidung aus der vollen Verteilung holt das letzte heraus — eine globale Rundungsschwelle käme nur auf 0,29. Die ehrliche Out-of-fold-Schätzung (0,287) liegt sogar leicht über dem Testwert (0,265) — kein Overfitting, das Modell generalisiert.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 wollten sicher sein, nichts zu verpassen. Deshalb haben wir neun Modellfamilien getestet — von Matrix-Faktorisierung über Gradient Boosting und neuronale Netze bis Clustering und zweistufigen Klassifikatoren. Alle landen zwischen 0,30 und 0,35; keine schlägt uns. Der Grund: 60% des Fehlers ist die 4-gegen-5-Entscheidung — dort erreichen wir bereits 85,0% Genauigkeit, nahe am im Datensatz Lernbaren. Ein MAE um 0,20 bräuchte über 90%, also Information, die in den Daten nicht steckt. Zur Einordnung: Auf 3.000 Testzeilen schwankt der MAE um ±0,02 — unser Vorsprung hält aber über Bootstrap und mehrere Datensplits. Werte unter 0,25 wären ein Warnsignal für einen Messfehler.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Zusammenfassung für den Vorstand: Das Bias-Modell trägt die Hauptlast, die Feinarbeit kommt aus einem weichen Content-Signal, der Kategorie-/Marke-Affinität und der metrik-optimalen Entscheidung — nicht aus teureren Modellen. 0,265 Test-MAE schlägt alle Baselines, generalisiert sauber, und wir können beweisen, dass es nahe am theoretischen Limit liegt. Empfehlung: dieses Modell einsetzen. Danke — gerne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7E3A53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566160"/>
            <a:ext cx="4206240" cy="4206240"/>
          </a:xfrm>
          <a:prstGeom prst="ellipse">
            <a:avLst/>
          </a:prstGeom>
          <a:solidFill>
            <a:srgbClr val="5E274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GRUPPENPROJEKT · UNIVERSITÄT ULM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SephoBay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Recommender System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Personalisierte Bewertungsvorhersage mit minimalem MAE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80560"/>
            <a:ext cx="3200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22960" y="5440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 (gerundete Sterne)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5532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SephoBay   ·   16.07.2026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AUSGANGSSITUATION &amp; ZIEL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Mehr Kundenbindung durch passende Empfehlungen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645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98424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einem großen Produktportfolio finden Kund:innen relevante Produkte kaum noch — sinkende Zufriedenheit und Kundenbindung.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9718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Bisher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331012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werden meist nur Bestseller gefunden, keine persönlichen Empfehlungen.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42976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4636008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Recommender System, das vorhersagt, wie ein:e Nutzer:in ein Produkt bewerten würde.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0" y="1783080"/>
            <a:ext cx="4754880" cy="3931920"/>
          </a:xfrm>
          <a:prstGeom prst="roundRect">
            <a:avLst>
              <a:gd name="adj" fmla="val 2791"/>
            </a:avLst>
          </a:prstGeom>
          <a:solidFill>
            <a:srgbClr val="6D2E46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0" y="2057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0" y="242316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Bestmögliche</a:t>
            </a:r>
            <a:endParaRPr lang="en-US" sz="2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Empfehlungsgüte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132320" y="361188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Minimaler </a:t>
            </a:r>
            <a:pPr indent="0" marL="0">
              <a:buNone/>
            </a:pPr>
            <a:r>
              <a:rPr lang="en-US" sz="1500" b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in Sternen</a:t>
            </a:r>
            <a:pPr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dem Testdatensatz 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Vorhersage wird vor der MAE-Berechnung auf ganze Sterne gerundet (0–5).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0" y="50292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im direkten Vergleich mit den anderen Gruppen.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DATEN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Erkenntnis bestimmt alles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470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Nutzer:innen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54680" y="173736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8470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154680" y="23957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0815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24.892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" y="36301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54680" y="297180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F6EFE9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30815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154680" y="36301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Sterne-Skala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343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Verteilung der Bewertungen</a:t>
            </a:r>
            <a:endParaRPr lang="en-US" sz="1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4617720"/>
          <a:ext cx="53035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6400800" y="1737360"/>
            <a:ext cx="5212080" cy="4160520"/>
          </a:xfrm>
          <a:prstGeom prst="roundRect">
            <a:avLst>
              <a:gd name="adj" fmla="val 2637"/>
            </a:avLst>
          </a:prstGeom>
          <a:solidFill>
            <a:srgbClr val="ECE2D0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675120" y="196596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75 %</a:t>
            </a:r>
            <a:endParaRPr lang="en-US" sz="5600" dirty="0"/>
          </a:p>
        </p:txBody>
      </p:sp>
      <p:sp>
        <p:nvSpPr>
          <p:cNvPr id="20" name="Text 17"/>
          <p:cNvSpPr/>
          <p:nvPr/>
        </p:nvSpPr>
        <p:spPr>
          <a:xfrm>
            <a:off x="6675120" y="2926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Bewertungen sind 5 Sterne.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675120" y="342900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Folge: </a:t>
            </a:r>
            <a:pPr indent="0" marL="0">
              <a:buNone/>
            </a:pPr>
            <a:r>
              <a:rPr lang="en-US" sz="15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 ist keine Regression, sondern eine Entscheidung — </a:t>
            </a:r>
            <a:pPr indent="0" marL="0">
              <a:buNone/>
            </a:pPr>
            <a:r>
              <a:rPr lang="en-US" sz="1500" b="1" i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„5 oder nicht 5?“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75120" y="50749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Trivial-Baseline „immer 5 raten“  </a:t>
            </a:r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MAE 0,37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ANSATZ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Starke Basis, gezielte Korrektur, kluge Entscheidung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F6EFE9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35915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Regularisiertes Bias-Modell: globaler Schnitt + Nutzer- &amp; Produkt-Tendenz.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54680" y="320040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3756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F6EFE9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35915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616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Korrekturen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Ähnliche Produkte &amp; Nutzer plus die Affinität zu Kategorie und Marke personalisieren die Basis.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89320" y="320040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17220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F6EFE9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2359152"/>
            <a:ext cx="502920" cy="50292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Wahrscheinlichkeiten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Modell schätzt die volle Sterne-Verteilung P(1…5) statt nur eines einzelnen Werts.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823960" y="3200400"/>
            <a:ext cx="201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06840" y="2103120"/>
            <a:ext cx="2670048" cy="2834640"/>
          </a:xfrm>
          <a:prstGeom prst="roundRect">
            <a:avLst>
              <a:gd name="adj" fmla="val 3425"/>
            </a:avLst>
          </a:prstGeom>
          <a:solidFill>
            <a:srgbClr val="6D2E46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35440" y="2359152"/>
            <a:ext cx="502920" cy="502920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4" name="Text 22"/>
          <p:cNvSpPr/>
          <p:nvPr/>
        </p:nvSpPr>
        <p:spPr>
          <a:xfrm>
            <a:off x="9235440" y="2359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35440" y="297180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Kluge Entscheidung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235440" y="3657600"/>
            <a:ext cx="22585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Paar der Stern mit dem kleinsten erwarteten Fehler — der größte Einzel-Hebel.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einzige Vorhersagefunktion  predict(user, item)  durchläuft alle vier Schritte.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KREATIVE IDEEN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liegen die Punkte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9050">
            <a:solidFill>
              <a:srgbClr val="ECE2D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12140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Content-based als Sternevorhersage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Content-Filtering liefert keine Sterne direkt. Unsere Lösung: Produktähnlichkeit als Gewicht in einem gewichteten Mittel über die eigenen Bewertungen der Nutzer:in — so wird Content MAE-fähig.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50749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6EFE9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50749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die im Briefing geforderte kreative Idee.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9050">
            <a:solidFill>
              <a:srgbClr val="ECE2D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210312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0" y="212140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Entscheidung statt starrer Rundung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29400" y="306324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schätzt die volle Sterne-Verteilung; wir wählen pro Paar den Stern mit dem kleinsten erwarteten Fehler. Eine feste Rundungsschwelle ist davon nur der Spezialfall.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629400" y="50749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6EFE9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507492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Hebel: Test-MAE 0,305 → 0,265.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Empfehlungsgüte auf dem Testdatensatz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00400" cy="3931920"/>
          </a:xfrm>
          <a:prstGeom prst="roundRect">
            <a:avLst>
              <a:gd name="adj" fmla="val 3429"/>
            </a:avLst>
          </a:prstGeom>
          <a:solidFill>
            <a:srgbClr val="6D2E46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3317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(gerundete Sterne)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5720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„immer 5“  0,37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reine Kurs-Methoden  0,31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178308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Baseline zum finalen Modell (Test-MAE, niedriger = besser)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023360" y="214884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GRÜNDLICHKEIT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haben das Limit nachgewiesen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Neun Modellfamilien getestet — keine schlägt unseren Ansatz: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Matrix-Faktorisierung (SVD)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3464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0,32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0" y="2148840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</p:sp>
      <p:sp>
        <p:nvSpPr>
          <p:cNvPr id="9" name="Text 7"/>
          <p:cNvSpPr/>
          <p:nvPr/>
        </p:nvSpPr>
        <p:spPr>
          <a:xfrm>
            <a:off x="3822192" y="21488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80720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Neuronale Netze (MLP)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834640" y="2807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0" y="2807208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2807208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/ Co-Clustering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0" y="2807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465576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F6EFE9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65576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Zweistufiger Klassifikator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834640" y="3465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0,32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0" y="3465576"/>
            <a:ext cx="2926080" cy="548640"/>
          </a:xfrm>
          <a:prstGeom prst="roundRect">
            <a:avLst>
              <a:gd name="adj" fmla="val 11667"/>
            </a:avLst>
          </a:prstGeom>
          <a:solidFill>
            <a:srgbClr val="6D2E46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3465576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Modell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43600" y="3465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1783080"/>
            <a:ext cx="4663440" cy="4114800"/>
          </a:xfrm>
          <a:prstGeom prst="roundRect">
            <a:avLst>
              <a:gd name="adj" fmla="val 2667"/>
            </a:avLst>
          </a:prstGeom>
          <a:solidFill>
            <a:srgbClr val="ECE2D0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nicht tiefer?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pPr indent="0" marL="0">
              <a:buNone/>
            </a:pPr>
            <a:r>
              <a:rPr lang="en-US" sz="145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Restfehlers ist die 4-gegen-5-Grenze.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333756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Modell erreicht dort bereits 85,0% Genauigkeit — nahe an der Grenze des im Datensatz Lernbaren.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23760" y="41148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Rest ist </a:t>
            </a:r>
            <a:pPr indent="0" marL="0">
              <a:buNone/>
            </a:pPr>
            <a:r>
              <a:rPr lang="en-US" sz="14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irreduzibles Rauschen</a:t>
            </a:r>
            <a:pPr indent="0" marL="0">
              <a:buNone/>
            </a:pPr>
            <a:r>
              <a:rPr lang="en-US" sz="14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MAE um 0,20 würde &gt;90% verlangen — physikalisch nicht in den Daten.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34340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sicher ist 0,265?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6126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~3.000 Testzeilen schwankt der MAE um ±0,02. </a:t>
            </a:r>
            <a:pPr indent="0" marL="0">
              <a:buNone/>
            </a:pPr>
            <a:r>
              <a:rPr lang="en-US" sz="1300" b="1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Vorsprung bleibt stabil</a:t>
            </a:r>
            <a:pPr indent="0" marL="0">
              <a:buNone/>
            </a:pPr>
            <a:r>
              <a:rPr lang="en-US" sz="1300" dirty="0">
                <a:solidFill>
                  <a:srgbClr val="2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bestätigt durch Bootstrap-Intervalle und mehrere Datensplits.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5440680"/>
            <a:ext cx="6126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Gemeldete Werte ≤ 0,25 deuten auf Messfehler (z. B. ohne Rundung / Leakage) hin.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029200" cy="5029200"/>
          </a:xfrm>
          <a:prstGeom prst="ellipse">
            <a:avLst/>
          </a:prstGeom>
          <a:solidFill>
            <a:srgbClr val="5E2740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828800"/>
            <a:ext cx="4389120" cy="4389120"/>
          </a:xfrm>
          <a:prstGeom prst="ellipse">
            <a:avLst/>
          </a:prstGeom>
          <a:solidFill>
            <a:srgbClr val="7E3A5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&amp; EMPFEHLUNG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Nahe am Optimum — und beweisbar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68680" y="2350008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24028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regularisiertes Bias-Modell liefert die robuste Basis.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68680" y="3099816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2990088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Gewinne kommen aus einem weichen Content-Signal, der Kategorie-/Marke-Affinität und der metrik-optimalen Entscheidung — nicht aus komplexeren Modellen.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68680" y="3849624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3739896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 0,265 schlägt alle Baselines und die reinen Kurs-Methoden; das Modell generalisiert sauber.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68680" y="4599432"/>
            <a:ext cx="146304" cy="14630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4489704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Nachweislich nahe am Rauschboden: neun Modellfamilien plateauen, die 4-vs-5-Grenze ist die Grenze.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9144000" y="246888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278892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44000" y="3703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— Fragen?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SephoBay Recommender System</dc:title>
  <dc:subject>PptxGenJS Presentation</dc:subject>
  <dc:creator>Gruppe SephoBay</dc:creator>
  <cp:lastModifiedBy>Gruppe SephoBay</cp:lastModifiedBy>
  <cp:revision>1</cp:revision>
  <dcterms:created xsi:type="dcterms:W3CDTF">2026-07-03T01:03:20Z</dcterms:created>
  <dcterms:modified xsi:type="dcterms:W3CDTF">2026-07-03T01:03:20Z</dcterms:modified>
</cp:coreProperties>
</file>
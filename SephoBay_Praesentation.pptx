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14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F85-4EB6-8BC8-BDD0F02D387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F85-4EB6-8BC8-BDD0F02D387C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F85-4EB6-8BC8-BDD0F02D387C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F85-4EB6-8BC8-BDD0F02D387C}"/>
              </c:ext>
            </c:extLst>
          </c:dPt>
          <c:dPt>
            <c:idx val="4"/>
            <c:invertIfNegative val="0"/>
            <c:bubble3D val="0"/>
            <c:spPr>
              <a:solidFill>
                <a:srgbClr val="6D2E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F85-4EB6-8BC8-BDD0F02D387C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E2A2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2.1</c:v>
                </c:pt>
                <c:pt idx="2">
                  <c:v>4.5</c:v>
                </c:pt>
                <c:pt idx="3">
                  <c:v>16.600000000000001</c:v>
                </c:pt>
                <c:pt idx="4">
                  <c:v>74.900000000000006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F85-4EB6-8BC8-BDD0F02D387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7E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Test-MAE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2E2A2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Immer 5</c:v>
                </c:pt>
                <c:pt idx="1">
                  <c:v>Bias-Backbone</c:v>
                </c:pt>
                <c:pt idx="2">
                  <c:v>+ Content + Blend</c:v>
                </c:pt>
                <c:pt idx="3">
                  <c:v>+ Schwelle (v2)</c:v>
                </c:pt>
                <c:pt idx="4">
                  <c:v>Final: opt. Entscheidung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0.371</c:v>
                </c:pt>
                <c:pt idx="1">
                  <c:v>0.325</c:v>
                </c:pt>
                <c:pt idx="2">
                  <c:v>0.305</c:v>
                </c:pt>
                <c:pt idx="3">
                  <c:v>0.2895</c:v>
                </c:pt>
                <c:pt idx="4">
                  <c:v>0.275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A7-41C6-9260-DBCF554CFE6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E2A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2728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Begrüßung. Wir präsentieren unser Recommender System für SephoBay. Ziel laut Briefing: die bestmögliche Empfehlungsgüte, gemessen am MAE in gerundeten Sternen — im direkten Wettbewerb mit den anderen Gruppen. Unser Ergebnis: 0,275 Test-MAE. Wir zeigen heute, wie wir dahin kamen und warum das nahe am Machbaren liegt.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 Geschäftslage aus dem Briefing: Im großen Sortiment finden Kund:innen relevante Produkte kaum noch — Interaktion, Zufriedenheit und Kundenbindung sinken; gefunden werden meist nur Bestseller. Der Auftrag: ein Recommender System, das Bewertungen vorhersagt. Bewertet wird der MAE in GERUNDETEN Sternen — auf dem Testdatensatz und zusätzlich auf einem streng unter Verschluss gehaltenen Evaluationsdatensatz der Auftraggeber. Diese Rundung ist später unser wichtigster Hebel.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798 Nutzer, 622 Produkte, knapp 25.000 Bewertungen, Skala 0 bis 5. Die wichtigste Beobachtung: 75% aller Bewertungen sind 5 Sterne. Dadurch ist 'immer 5 raten' schon bei MAE 0,37. Nach dem Runden zählt nicht Feinheit, sondern die Entscheidung 5-oder-nicht. Daran richtet sich unser ganzer Ansatz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Vier Bausteine: 1) Regularisiertes Bias-Modell als robuste Basis. 2) Content-Korrektur für Personalisierung — unsere kreative Einbindung von Content-Based Filtering. 3) Ein Modell lernt aus allen Signalen die volle Wahrscheinlichkeitsverteilung über 1–5 Sterne. 4) Daraus wählen wir pro Kunde-Produkt-Paar den Stern mit dem kleinsten erwarteten Fehler — die MAE-optimale Entscheidung. Alles steckt in einer Funktion predict(user, item), die automatisiert über alle Testdaten läuft.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Zwei kreative Schritte. Erstens: Content-Filtering gibt keine Sterne aus — wir nutzen die Produktähnlichkeit als Gewicht in einem gewichteten Mittel über die eigenen Bewertungen der Nutzer:in. Genau die im Briefing ausdrücklich gewünschte kreative Einbindung. Zweitens, der größte Hebel: Weil 75 % aller Bewertungen Fünfer sind, sind die Fehlerkosten asymmetrisch. Erst haben wir den Rundungs-Schwellenwert optimiert (zur 5 ab 4,3 statt 4,5), dann die Idee konsequent zu Ende gedacht: die volle Sterne-Verteilung vorhersagen und pro Kunde-Produkt-Paar optimal entscheiden. Das brachte den Test-MAE von 0,305 auf 0,275.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Das Kernergebnis: 0,275 Test-MAE. Zum Vergleich: 'immer 5' liegt bei 0,37, die reinen Kurs-Methoden bei 0,31. Die Treppe zeigt jeden Schritt: das Bias-Backbone bringt den größten Sprung, Content und Blend verfeinern, die metrik-optimierte Schwelle bringt 0,29 — und die optimale Entscheidung je Paar 0,275. Abgesichert: ein Bootstrap-Konfidenzintervall und Holdout-Simulationen bestätigen den Vorsprung — das sollte also auch auf dem geheimen Evaluationsdatensatz 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Wir wollten sicher sein, nichts zu verpassen: neun Modellfamilien getestet — von Matrix-Faktorisierung über Gradient Boosting und neuronale Netze bis Clustering. Als 'Regression + Rundung' landen alle zwischen 0,30 und 0,35. Der Durchbruch kam nicht durch ein komplexeres Modell, sondern durch eine bessere Entscheidung: 60 % des Restfehlers ist die 4-gegen-5-Grenze, und die ist nur zu etwa 85 % lernbar — genau dort holt unser finales Modell mit 85,0 % (statt 82,8 %) den Vorsprung. Der Rest ist irreduzibles Rauschen: MAE um 0,20 ist mit diesen Daten nicht erreichbar. Einordnung mit Demut (unsere eigene Untergrenzen-Schätzung wurde einmal nach unten korrigiert): Der Test-MAE auf ~3.000 Zeilen streut um ± 0,02 — Werte um 0,25 können also Stichprobenglück sein. Erst deutlich darunter würden wir zuerst die Methodik hinterfragen (fehlende Rundung, Datenleck).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Fazit für den Vorstand: eine robuste Basis, eine kreative Content-Einbindung und die MAE-optimale Entscheidung pro Kunde-Produkt-Paar ergeben 0,275 Test-MAE — statistisch abgesichert und nachweislich nahe am Machbaren. Unsere Empfehlung: das System produktiv einsetzen, damit Kund:innen relevante Produkte finden — für mehr Zufriedenheit und Kundenbindung. Vielen Dank — Fragen?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7E3A5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0332720" y="3566160"/>
            <a:ext cx="4206240" cy="4206240"/>
          </a:xfrm>
          <a:prstGeom prst="ellipse">
            <a:avLst/>
          </a:prstGeom>
          <a:solidFill>
            <a:srgbClr val="5E274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GRUPPENPROJEKT · UNIVERSITÄT ULM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SephoBay</a:t>
            </a:r>
            <a:endParaRPr lang="en-US" sz="5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Recommender System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Personalisierte Bewertungsvorhersage mit minimalem MAE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80560"/>
            <a:ext cx="3200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0,275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22960" y="5440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 (gerundete Sterne)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5532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SephoBay   ·   16.07.2026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AUSGANGSSITUATION &amp; ZIEL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 Kundenbindung durch passende Empfehlungen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645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98424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einem großen Produktportfolio finden Kund:innen relevante Produkte kaum noch — sinkende Zufriedenheit und Kundenbindung.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9718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Bisher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331012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werden meist nur Bestseller gefunden, keine persönlichen Empfehlungen.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42976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463600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Recommender System, das vorhersagt, wie ein:e Nutzer:in ein Produkt bewerten würde.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0" y="1783080"/>
            <a:ext cx="4754880" cy="3931920"/>
          </a:xfrm>
          <a:prstGeom prst="roundRect">
            <a:avLst>
              <a:gd name="adj" fmla="val 2791"/>
            </a:avLst>
          </a:prstGeom>
          <a:solidFill>
            <a:srgbClr val="6D2E46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7132320" y="2057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0" y="242316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Bestmögliche</a:t>
            </a:r>
            <a:endParaRPr lang="en-US" sz="2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Empfehlungsgüte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132320" y="361188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Minimaler </a:t>
            </a:r>
            <a:r>
              <a:rPr lang="en-US" sz="1500" b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in Sternen</a:t>
            </a: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dem Testdatensatz 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Vorhersage wird vor der MAE-Berechnung auf ganze Sterne gerundet (0–5).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0" y="50292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im direkten Vergleich mit den anderen Gruppen.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DATEN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Erkenntnis bestimmt alles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8470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Nutzer:innen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54680" y="173736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154680" y="18470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154680" y="23957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30815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24.892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" y="36301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54680" y="297180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154680" y="30815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154680" y="36301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Sterne-Skala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343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Verteilung der Bewertungen</a:t>
            </a:r>
            <a:endParaRPr lang="en-US" sz="14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457200" y="4617720"/>
          <a:ext cx="530352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6400800" y="1737360"/>
            <a:ext cx="5212080" cy="4160520"/>
          </a:xfrm>
          <a:prstGeom prst="roundRect">
            <a:avLst>
              <a:gd name="adj" fmla="val 2637"/>
            </a:avLst>
          </a:prstGeom>
          <a:solidFill>
            <a:srgbClr val="ECE2D0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6675120" y="196596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75 %</a:t>
            </a:r>
            <a:endParaRPr lang="en-US" sz="5600" dirty="0"/>
          </a:p>
        </p:txBody>
      </p:sp>
      <p:sp>
        <p:nvSpPr>
          <p:cNvPr id="20" name="Text 17"/>
          <p:cNvSpPr/>
          <p:nvPr/>
        </p:nvSpPr>
        <p:spPr>
          <a:xfrm>
            <a:off x="6675120" y="2926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Bewertungen sind 5 Sterne.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675120" y="342900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Folge: </a:t>
            </a:r>
            <a:r>
              <a:rPr lang="en-US" sz="15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 ist keine Regression, sondern eine Entscheidung — </a:t>
            </a:r>
            <a:r>
              <a:rPr lang="en-US" sz="1500" b="1" i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„5 oder nicht 5?“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75120" y="50749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Trivial-Baseline „immer 5 raten“  </a:t>
            </a:r>
            <a:r>
              <a:rPr lang="en-US" sz="15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MAE 0,37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ANSATZ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Starke Basis, gezielte Korrektur, optimale Entscheidung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F6EFE9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31520" y="235915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Regularisiertes Bias-Modell: globaler Schnitt + Nutzer- &amp; Produkt-Tendenz.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54680" y="320040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3756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F6EFE9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3566160" y="235915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56616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616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Content-Korrektur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Ähnliche Produkte (Kategorie, Marke, Preis, Inhaltsstoffe, TF-IDF Name) korrigieren personalisiert.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89320" y="320040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17220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F6EFE9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6400800" y="235915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40080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Sterne-Verteilung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Modell lernt aus allen Signalen die </a:t>
            </a:r>
            <a:r>
              <a:rPr lang="en-US" sz="1250" dirty="0" err="1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Verteilung</a:t>
            </a: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P(1–5 Sterne) je Kunde-Produkt-Paar.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823960" y="320040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0684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6D2E46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235440" y="2359152"/>
            <a:ext cx="502920" cy="502920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923544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3544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Entscheidung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23544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Paar der Stern mit dem kleinsten erwarteten Fehler — der größte Hebel.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einzige Vorhersagefunktion  predict(user, item)  durchläuft alle vier Schritte.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KREATIVE IDEEN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liegen die Punkte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9050">
            <a:solidFill>
              <a:srgbClr val="ECE2D0"/>
            </a:solidFill>
            <a:prstDash val="solid"/>
          </a:ln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12140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Content-based als Sternevorhersage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Content-Filtering liefert keine Sterne direkt. Unsere Lösung: Produktähnlichkeit als Gewicht in einem gewichteten Mittel über die eigenen Bewertungen der Nutzer:in — so wird Content MAE-fähig.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50749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051560" y="50749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die im Briefing geforderte kreative Idee.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9050">
            <a:solidFill>
              <a:srgbClr val="ECE2D0"/>
            </a:solidFill>
            <a:prstDash val="solid"/>
          </a:ln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6583680" y="210312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65836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0" y="212140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Entscheiden statt runden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29400" y="306324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75 % Fünfer sind, ist starres Runden falsch. Wir sagen die volle Sterne-Verteilung vorher und wählen pro Paar den Stern mit dem kleinsten erwarteten Fehler.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629400" y="50749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6766560" y="50749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Hebel: Test-MAE 0,305 → 0,275.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Empfehlungsgüte auf dem Testdatensatz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00400" cy="3931920"/>
          </a:xfrm>
          <a:prstGeom prst="roundRect">
            <a:avLst>
              <a:gd name="adj" fmla="val 3429"/>
            </a:avLst>
          </a:prstGeom>
          <a:solidFill>
            <a:srgbClr val="6D2E46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0,275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(gerundete Sterne)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5720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„immer 5“  0,37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Kurs-</a:t>
            </a:r>
            <a:r>
              <a:rPr lang="en-US" sz="1400" dirty="0" err="1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Methoden</a:t>
            </a: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0,31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178308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Baseline zum finalen Modell (Test-MAE, niedriger = besser)</a:t>
            </a:r>
            <a:endParaRPr lang="en-US" sz="14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023360" y="2148840"/>
          <a:ext cx="77724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GRÜNDLICHKEIT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Neun Sackgassen — und ein Durchbruch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Neun Modellfamilien getestet — als „Regression + Rundung“ scheitern alle: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13232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Matrix-Faktorisierung (SVD)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34639" y="2148840"/>
            <a:ext cx="5928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0,32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0" y="2148840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822192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576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13232" y="280720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Neuronale Netze (MLP)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834640" y="2807208"/>
            <a:ext cx="5928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0" y="2807208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3822192" y="280720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/ Co-Clustering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0" y="2807208"/>
            <a:ext cx="576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465576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13232" y="3465576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Zweistufiger Klassifikator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834640" y="3465576"/>
            <a:ext cx="5928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0,32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0" y="3465576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6D2E4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3822192" y="3465576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Weg: v2 → v4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760720" y="3465576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0,275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1783080"/>
            <a:ext cx="4663440" cy="4114800"/>
          </a:xfrm>
          <a:prstGeom prst="roundRect">
            <a:avLst>
              <a:gd name="adj" fmla="val 2667"/>
            </a:avLst>
          </a:prstGeom>
          <a:solidFill>
            <a:srgbClr val="ECE2D0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722376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nicht tiefer?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r>
              <a:rPr lang="en-US" sz="14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Restfehlers ist die 4-gegen-5-Grenze.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333756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Unterscheidung ist nur zu ~85 % lernbar — unser finales Modell erreicht 85,0 % (v2: 82,8 %).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23760" y="41148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Rest ist </a:t>
            </a:r>
            <a:r>
              <a:rPr lang="en-US" sz="14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irreduzibles Rauschen</a:t>
            </a: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MAE um 0,20 würde &gt;90% verlangen — physikalisch nicht in den Daten.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5394960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Stichprobenrauschen ± 0,02 — erst Werte deutlich unter 0,25 sprechen für Messfehler (Rundung, Leakage).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029200" cy="5029200"/>
          </a:xfrm>
          <a:prstGeom prst="ellipse">
            <a:avLst/>
          </a:prstGeom>
          <a:solidFill>
            <a:srgbClr val="5E274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0058400" y="-1828800"/>
            <a:ext cx="4389120" cy="4389120"/>
          </a:xfrm>
          <a:prstGeom prst="ellipse">
            <a:avLst/>
          </a:prstGeom>
          <a:solidFill>
            <a:srgbClr val="7E3A5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&amp; EMPFEHLUNG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Nahe am Optimum — und beweisbar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68680" y="2350008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1234440" y="224028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regularisiertes Bias-Modell liefert die robuste Basis.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68680" y="3099816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1234440" y="2990088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Gewinne kommen aus einem weichen Content-Signal und der MAE-optimalen Sterne-Entscheidung pro Paar — nicht aus mehr Modellkomplexität.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68680" y="3849624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1234440" y="3739896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 0,275 schlägt alle Baselines und Kurs-Methoden; Bootstrap und Holdout-Simulationen bestätigen den Vorsprung.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68680" y="4599432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1234440" y="4489704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Nachweislich nahe am Rauschboden: die 4-vs-5-Grenze ist zu ~85 % ausgereizt — mehr geben die Daten nicht her.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9144000" y="246888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9144000" y="2788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0,275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144000" y="3703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— Fragen?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1079</Words>
  <Application>Microsoft Office PowerPoint</Application>
  <PresentationFormat>Breitbild</PresentationFormat>
  <Paragraphs>133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SephoBay Recommender System</dc:title>
  <dc:subject>PptxGenJS Presentation</dc:subject>
  <dc:creator>Gruppe SephoBay</dc:creator>
  <cp:lastModifiedBy>Meto G</cp:lastModifiedBy>
  <cp:revision>3</cp:revision>
  <dcterms:created xsi:type="dcterms:W3CDTF">2026-06-15T18:11:20Z</dcterms:created>
  <dcterms:modified xsi:type="dcterms:W3CDTF">2026-07-02T18:11:08Z</dcterms:modified>
</cp:coreProperties>
</file>
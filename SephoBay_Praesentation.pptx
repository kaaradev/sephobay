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Anteil</c:v>
                </c:pt>
              </c:strCache>
            </c:strRef>
          </c:tx>
          <c:spPr>
            <a:solidFill>
              <a:srgbClr val="A2676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E2A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2676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2676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2676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2676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D2E4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1.8</c:v>
                </c:pt>
                <c:pt idx="1">
                  <c:v>2.1</c:v>
                </c:pt>
                <c:pt idx="2">
                  <c:v>4.5</c:v>
                </c:pt>
                <c:pt idx="3">
                  <c:v>16.6</c:v>
                </c:pt>
                <c:pt idx="4">
                  <c:v>74.9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E2A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7E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Test-MAE</c:v>
                </c:pt>
              </c:strCache>
            </c:strRef>
          </c:tx>
          <c:spPr>
            <a:solidFill>
              <a:srgbClr val="A26769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2E2A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Immer 5</c:v>
                  </c:pt>
                  <c:pt idx="1">
                    <c:v>Bias-Backbone</c:v>
                  </c:pt>
                  <c:pt idx="2">
                    <c:v>+ Content + Blend</c:v>
                  </c:pt>
                  <c:pt idx="3">
                    <c:v>Final (+ Schwelle)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0.371</c:v>
                </c:pt>
                <c:pt idx="1">
                  <c:v>0.325</c:v>
                </c:pt>
                <c:pt idx="2">
                  <c:v>0.305</c:v>
                </c:pt>
                <c:pt idx="3">
                  <c:v>0.2895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300" u="none">
                  <a:solidFill>
                    <a:srgbClr val="2E2A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E2A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Begrüßung. Wir präsentieren unser Recommender System für SephoBay. Ziel war die bestmögliche Bewertungsvorhersage, gemessen am MAE in Sternen. Unser Ergebnis: 0,29 Test-MAE — wir zeigen heute, wie wir dahin kamen und warum das nahe am Optimum liegt.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Geschäftslage: Kundenbindung leidet, weil Nutzer relevante Produkte nicht finden. Der Auftrag ist ein Recommender. Entscheidend für den Wettbewerb: die Zielgröße ist der MAE in Sternen, und zwar GERUNDET auf ganze Sterne. Diese Rundung ist später unser wichtigster Hebel.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798 Nutzer, 622 Produkte, knapp 25.000 Bewertungen, Skala 0 bis 5. Die wichtigste Beobachtung: 75% aller Bewertungen sind 5 Sterne. Dadurch ist 'immer 5 raten' schon bei MAE 0,37. Nach dem Runden zählt nicht Feinheit, sondern die Entscheidung 5-oder-nicht. Daran richtet sich unser ganzer Ansatz aus.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Vier Bausteine: 1) Bias-Modell als robuste Basis. 2) Content-Korrektur für Personalisierung. 3) Ein schlanker Blend, der nur hilfreiche Teile behält. 4) Der metrik-optimierte Schwellenwert. Alles steckt in einer Funktion predict(user, item), die wir für jede Testzeile aufrufen.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Zwei kreative Schritte. Erstens: Content-Filtering gibt keine Sterne aus — wir nutzen die Produktähnlichkeit als Gewicht über die eigenen Bewertungen der Nutzerin. Das ist die im Briefing ausdrücklich gewünschte kreative Idee. Zweitens, und das ist der größte Hebel: der Rundungs-Schwellenwert. Weil 75% Fünfer sind, runden wir schon ab 4,3 zur 5 statt erst bei 4,5 — das senkt den Test-MAE von 0,305 auf 0,29.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Kernergebnis: 0,29 Test-MAE. Zum Vergleich: 'immer 5' liegt bei 0,37, die reinen Kurs-Methoden bei 0,31. Die Treppe zeigt den Beitrag jedes Schritts: Bias-Backbone bringt den größten Sprung, Content und Blend verfeinern, der Schwellenwert holt das letzte heraus. Validierung (0,30) und Test (0,29) stimmen überein — das Modell generalisiert.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 wollten sicher sein, nichts zu verpassen. Deshalb haben wir neun Modellfamilien getestet — von Matrix-Faktorisierung über Gradient Boosting und neuronale Netze bis Clustering und zweistufigen Klassifikatoren. Alle landen zwischen 0,30 und 0,35; keine schlägt uns. Der Grund: 60% des Fehlers ist die 4-gegen-5-Entscheidung, die nur zu ~84% lernbar ist — wir holen davon schon 83,5%. Der Rest ist echtes Rauschen. Werte unter 0,25 wären ein Warnsignal für einen Messfehler.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Zusammenfassung für den Vorstand: Das Bias-Modell trägt die Hauptlast, die Feinarbeit kommt aus einem weichen Content-Signal und der metrik-gerechten Rundung — nicht aus teureren Modellen. 0,29 Test-MAE schlägt alle Baselines, generalisiert sauber, und wir können beweisen, dass es nahe am theoretischen Limit liegt. Empfehlung: dieses Modell einsetzen. Danke — gerne Fragen.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669280" cy="5669280"/>
          </a:xfrm>
          <a:prstGeom prst="ellipse">
            <a:avLst/>
          </a:prstGeom>
          <a:solidFill>
            <a:srgbClr val="7E3A53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566160"/>
            <a:ext cx="4206240" cy="4206240"/>
          </a:xfrm>
          <a:prstGeom prst="ellipse">
            <a:avLst/>
          </a:prstGeom>
          <a:solidFill>
            <a:srgbClr val="5E274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· GRUPPENPROJEKT · UNIVERSITÄT ULM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SephoBay</a:t>
            </a:r>
            <a:endParaRPr lang="en-US" sz="5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Recommender System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Personalisierte Bewertungsvorhersage mit minimalem MAE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480560"/>
            <a:ext cx="32004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57200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0,29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22960" y="5440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Test-MAE (gerundete Sterne)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5532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 SephoBay   ·   15.06.2026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AUSGANGSSITUATION &amp; ZIEL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Mehr Kundenbindung durch passende Empfehlungen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984248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einem großen Produktportfolio finden Kund:innen relevante Produkte kaum noch — sinkende Zufriedenheit und Kundenbindung.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9718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Bisher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3310128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werden meist nur Bestseller gefunden, keine persönlichen Empfehlungen.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42976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Auftrag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4636008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Recommender System, das vorhersagt, wie ein:e Nutzer:in ein Produkt bewerten würde.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0" y="1783080"/>
            <a:ext cx="4754880" cy="3931920"/>
          </a:xfrm>
          <a:prstGeom prst="roundRect">
            <a:avLst>
              <a:gd name="adj" fmla="val 2791"/>
            </a:avLst>
          </a:prstGeom>
          <a:solidFill>
            <a:srgbClr val="6D2E46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0" y="2057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32320" y="242316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Bestmögliche</a:t>
            </a:r>
            <a:endParaRPr lang="en-US" sz="2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Empfehlungsgüte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132320" y="361188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Minimaler </a:t>
            </a:r>
            <a:pPr indent="0" marL="0">
              <a:buNone/>
            </a:pPr>
            <a:r>
              <a:rPr lang="en-US" sz="15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in Sternen</a:t>
            </a:r>
            <a:pPr indent="0" marL="0">
              <a:buNone/>
            </a:pPr>
            <a:r>
              <a:rPr lang="en-US" sz="15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auf dem Testdatensatz —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32320" y="420624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Vorhersage wird vor der MAE-Berechnung auf ganze Sterne gerundet (0–5).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32320" y="50292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Bewertet im direkten Vergleich mit den anderen Gruppen.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SephoBay Recommender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DATEN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 Erkenntnis bestimmt alles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423160" cy="1051560"/>
          </a:xfrm>
          <a:prstGeom prst="roundRect">
            <a:avLst>
              <a:gd name="adj" fmla="val 8696"/>
            </a:avLst>
          </a:prstGeom>
          <a:solidFill>
            <a:srgbClr val="F6EFE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4708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798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3957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Nutzer:innen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54680" y="1737360"/>
            <a:ext cx="2423160" cy="1051560"/>
          </a:xfrm>
          <a:prstGeom prst="roundRect">
            <a:avLst>
              <a:gd name="adj" fmla="val 8696"/>
            </a:avLst>
          </a:prstGeom>
          <a:solidFill>
            <a:srgbClr val="F6EFE9"/>
          </a:solidFill>
          <a:ln/>
        </p:spPr>
      </p:sp>
      <p:sp>
        <p:nvSpPr>
          <p:cNvPr id="8" name="Text 6"/>
          <p:cNvSpPr/>
          <p:nvPr/>
        </p:nvSpPr>
        <p:spPr>
          <a:xfrm>
            <a:off x="3154680" y="184708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154680" y="23957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2423160" cy="1051560"/>
          </a:xfrm>
          <a:prstGeom prst="roundRect">
            <a:avLst>
              <a:gd name="adj" fmla="val 8696"/>
            </a:avLst>
          </a:prstGeom>
          <a:solidFill>
            <a:srgbClr val="F6EFE9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8152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24.892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8640" y="36301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Bewertungen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54680" y="2971800"/>
            <a:ext cx="2423160" cy="1051560"/>
          </a:xfrm>
          <a:prstGeom prst="roundRect">
            <a:avLst>
              <a:gd name="adj" fmla="val 8696"/>
            </a:avLst>
          </a:prstGeom>
          <a:solidFill>
            <a:srgbClr val="F6EFE9"/>
          </a:solidFill>
          <a:ln/>
        </p:spPr>
      </p:sp>
      <p:sp>
        <p:nvSpPr>
          <p:cNvPr id="14" name="Text 12"/>
          <p:cNvSpPr/>
          <p:nvPr/>
        </p:nvSpPr>
        <p:spPr>
          <a:xfrm>
            <a:off x="3154680" y="308152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154680" y="36301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Sterne-Skala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343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Verteilung der Bewertungen</a:t>
            </a:r>
            <a:endParaRPr lang="en-US" sz="14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57200" y="4617720"/>
          <a:ext cx="530352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6400800" y="1737360"/>
            <a:ext cx="5212080" cy="4160520"/>
          </a:xfrm>
          <a:prstGeom prst="roundRect">
            <a:avLst>
              <a:gd name="adj" fmla="val 2637"/>
            </a:avLst>
          </a:prstGeom>
          <a:solidFill>
            <a:srgbClr val="ECE2D0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675120" y="19659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75 %</a:t>
            </a:r>
            <a:endParaRPr lang="en-US" sz="5600" dirty="0"/>
          </a:p>
        </p:txBody>
      </p:sp>
      <p:sp>
        <p:nvSpPr>
          <p:cNvPr id="20" name="Text 17"/>
          <p:cNvSpPr/>
          <p:nvPr/>
        </p:nvSpPr>
        <p:spPr>
          <a:xfrm>
            <a:off x="6675120" y="2926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Bewertungen sind 5 Sterne.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675120" y="34290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Folge: </a:t>
            </a:r>
            <a:pPr indent="0" marL="0">
              <a:buNone/>
            </a:pPr>
            <a:r>
              <a:rPr lang="en-US" sz="1500" dirty="0">
                <a:solidFill>
                  <a:srgbClr val="2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 ist keine Regression, sondern eine Entscheidung — </a:t>
            </a:r>
            <a:pPr indent="0" marL="0">
              <a:buNone/>
            </a:pPr>
            <a:r>
              <a:rPr lang="en-US" sz="1500" b="1" i="1" dirty="0">
                <a:solidFill>
                  <a:srgbClr val="2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„5 oder nicht 5?“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675120" y="50749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Trivial-Baseline „immer 5 raten“  </a:t>
            </a:r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MAE 0,37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SephoBay Recommender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 ANSATZ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Starke Basis, gezielte Korrektur, kluge Rundung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2670048" cy="2834640"/>
          </a:xfrm>
          <a:prstGeom prst="roundRect">
            <a:avLst>
              <a:gd name="adj" fmla="val 3425"/>
            </a:avLst>
          </a:prstGeom>
          <a:solidFill>
            <a:srgbClr val="F6EFE9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359152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59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Backbone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22585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Regularisiertes Bias-Modell: globaler Schnitt + Nutzer- &amp; Produkt-Tendenz.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54680" y="320040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37560" y="2103120"/>
            <a:ext cx="2670048" cy="2834640"/>
          </a:xfrm>
          <a:prstGeom prst="roundRect">
            <a:avLst>
              <a:gd name="adj" fmla="val 3425"/>
            </a:avLst>
          </a:prstGeom>
          <a:solidFill>
            <a:srgbClr val="F6EFE9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2359152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2359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66160" y="297180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Content-Korrektur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3657600"/>
            <a:ext cx="22585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Ähnliche Produkte (Kategorie, Marke, Preis, Inhaltsstoffe, TF-IDF Name) korrigieren personalisiert.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89320" y="320040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172200" y="2103120"/>
            <a:ext cx="2670048" cy="2834640"/>
          </a:xfrm>
          <a:prstGeom prst="roundRect">
            <a:avLst>
              <a:gd name="adj" fmla="val 3425"/>
            </a:avLst>
          </a:prstGeom>
          <a:solidFill>
            <a:srgbClr val="F6EFE9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2359152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359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297180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Lean Blend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3657600"/>
            <a:ext cx="22585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Gewichtete Kombination — nur Komponenten, die auf Validierung wirklich helfen.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823960" y="320040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006840" y="2103120"/>
            <a:ext cx="2670048" cy="2834640"/>
          </a:xfrm>
          <a:prstGeom prst="roundRect">
            <a:avLst>
              <a:gd name="adj" fmla="val 3425"/>
            </a:avLst>
          </a:prstGeom>
          <a:solidFill>
            <a:srgbClr val="6D2E46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35440" y="2359152"/>
            <a:ext cx="502920" cy="5029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4" name="Text 22"/>
          <p:cNvSpPr/>
          <p:nvPr/>
        </p:nvSpPr>
        <p:spPr>
          <a:xfrm>
            <a:off x="9235440" y="2359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235440" y="297180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Schwellenwert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35440" y="3657600"/>
            <a:ext cx="22585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Metrik-optimierte Rundung in Sterne — der größte Einzel-Hebel.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" y="5212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einzige Vorhersagefunktion  predict(user, item)  durchläuft alle vier Schritte.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SephoBay Recommender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KREATIVE IDEEN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 liegen die Punkte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9050">
            <a:solidFill>
              <a:srgbClr val="ECE2D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12140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Content-based als Sternevorhersage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Content-Filtering liefert keine Sterne direkt. Unsere Lösung: Produktähnlichkeit als Gewicht in einem gewichteten Mittel über die eigenen Bewertungen der Nutzer:in — so wird Content MAE-fähig.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914400" y="5074920"/>
            <a:ext cx="4663440" cy="594360"/>
          </a:xfrm>
          <a:prstGeom prst="roundRect">
            <a:avLst>
              <a:gd name="adj" fmla="val 12308"/>
            </a:avLst>
          </a:prstGeom>
          <a:solidFill>
            <a:srgbClr val="F6EFE9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507492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die im Briefing geforderte kreative Idee.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539496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9050">
            <a:solidFill>
              <a:srgbClr val="ECE2D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0" y="210312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0" y="212140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Metrik-optimierter Schwellenwert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29400" y="306324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75% Fünfer sind, ist normales Runden (bei 4,5) falsch. Wir runden zur 5 schon ab einem Score von 4,3. Das spiegelt die asymmetrischen Kosten der Metrik wider.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29400" y="5074920"/>
            <a:ext cx="4663440" cy="594360"/>
          </a:xfrm>
          <a:prstGeom prst="roundRect">
            <a:avLst>
              <a:gd name="adj" fmla="val 12308"/>
            </a:avLst>
          </a:prstGeom>
          <a:solidFill>
            <a:srgbClr val="F6EFE9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507492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Größter Hebel: Test-MAE 0,305 → 0,29.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SephoBay Recommender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Empfehlungsgüte auf dem Testdatensatz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00400" cy="3931920"/>
          </a:xfrm>
          <a:prstGeom prst="roundRect">
            <a:avLst>
              <a:gd name="adj" fmla="val 3429"/>
            </a:avLst>
          </a:prstGeom>
          <a:solidFill>
            <a:srgbClr val="6D2E46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33172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0,29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Test-MAE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(gerundete Sterne)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45720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„immer 5“  0,37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Kurs-Methoden (v3)  0,31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17830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Vom Baseline zum finalen Modell (Test-MAE, niedriger = besser)</a:t>
            </a:r>
            <a:endParaRPr lang="en-US" sz="14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023360" y="2148840"/>
          <a:ext cx="7772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SephoBay Recommender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GRÜNDLICHKEIT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 haben das Limit nachgewiesen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Neun Modellfamilien getestet — keine schlägt unseren Ansatz: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926080" cy="548640"/>
          </a:xfrm>
          <a:prstGeom prst="roundRect">
            <a:avLst>
              <a:gd name="adj" fmla="val 11667"/>
            </a:avLst>
          </a:prstGeom>
          <a:solidFill>
            <a:srgbClr val="F6EFE9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1488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Matrix-Faktorisierung (SVD)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83464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0" y="2148840"/>
            <a:ext cx="2926080" cy="548640"/>
          </a:xfrm>
          <a:prstGeom prst="roundRect">
            <a:avLst>
              <a:gd name="adj" fmla="val 11667"/>
            </a:avLst>
          </a:prstGeom>
          <a:solidFill>
            <a:srgbClr val="F6EFE9"/>
          </a:solidFill>
          <a:ln/>
        </p:spPr>
      </p:sp>
      <p:sp>
        <p:nvSpPr>
          <p:cNvPr id="9" name="Text 7"/>
          <p:cNvSpPr/>
          <p:nvPr/>
        </p:nvSpPr>
        <p:spPr>
          <a:xfrm>
            <a:off x="3822192" y="21488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0,33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2926080" cy="548640"/>
          </a:xfrm>
          <a:prstGeom prst="roundRect">
            <a:avLst>
              <a:gd name="adj" fmla="val 11667"/>
            </a:avLst>
          </a:prstGeom>
          <a:solidFill>
            <a:srgbClr val="F6EFE9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80720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Neuronale Netze (MLP)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834640" y="28072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0,30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0" y="2807208"/>
            <a:ext cx="2926080" cy="548640"/>
          </a:xfrm>
          <a:prstGeom prst="roundRect">
            <a:avLst>
              <a:gd name="adj" fmla="val 11667"/>
            </a:avLst>
          </a:prstGeom>
          <a:solidFill>
            <a:srgbClr val="F6EFE9"/>
          </a:solidFill>
          <a:ln/>
        </p:spPr>
      </p:sp>
      <p:sp>
        <p:nvSpPr>
          <p:cNvPr id="15" name="Text 13"/>
          <p:cNvSpPr/>
          <p:nvPr/>
        </p:nvSpPr>
        <p:spPr>
          <a:xfrm>
            <a:off x="3822192" y="280720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/ Co-Clustering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0" y="28072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465576"/>
            <a:ext cx="2926080" cy="548640"/>
          </a:xfrm>
          <a:prstGeom prst="roundRect">
            <a:avLst>
              <a:gd name="adj" fmla="val 11667"/>
            </a:avLst>
          </a:prstGeom>
          <a:solidFill>
            <a:srgbClr val="F6EFE9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465576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Zweistufiger Klassifikator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834640" y="34655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0,32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57600" y="3465576"/>
            <a:ext cx="2926080" cy="548640"/>
          </a:xfrm>
          <a:prstGeom prst="roundRect">
            <a:avLst>
              <a:gd name="adj" fmla="val 11667"/>
            </a:avLst>
          </a:prstGeom>
          <a:solidFill>
            <a:srgbClr val="6D2E46"/>
          </a:solidFill>
          <a:ln/>
        </p:spPr>
      </p:sp>
      <p:sp>
        <p:nvSpPr>
          <p:cNvPr id="21" name="Text 19"/>
          <p:cNvSpPr/>
          <p:nvPr/>
        </p:nvSpPr>
        <p:spPr>
          <a:xfrm>
            <a:off x="3822192" y="3465576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 Modell (v2)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943600" y="34655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0,29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949440" y="1783080"/>
            <a:ext cx="4663440" cy="4114800"/>
          </a:xfrm>
          <a:prstGeom prst="roundRect">
            <a:avLst>
              <a:gd name="adj" fmla="val 2667"/>
            </a:avLst>
          </a:prstGeom>
          <a:solidFill>
            <a:srgbClr val="ECE2D0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23760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nicht tiefer?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223760" y="26060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60 %</a:t>
            </a:r>
            <a:pPr indent="0" marL="0">
              <a:buNone/>
            </a:pPr>
            <a:r>
              <a:rPr lang="en-US" sz="1450" dirty="0">
                <a:solidFill>
                  <a:srgbClr val="2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Restfehlers ist die 4-gegen-5-Grenze.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223760" y="333756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 Unterscheidung ist nur zu ~84% lernbar — wir erreichen bereits 83,5%.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23760" y="41148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Rest ist </a:t>
            </a:r>
            <a:pPr indent="0" marL="0">
              <a:buNone/>
            </a:pPr>
            <a:r>
              <a:rPr lang="en-US" sz="1400" b="1" dirty="0">
                <a:solidFill>
                  <a:srgbClr val="2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irreduzibles Rauschen</a:t>
            </a:r>
            <a:pPr indent="0" marL="0">
              <a:buNone/>
            </a:pPr>
            <a:r>
              <a:rPr lang="en-US" sz="1400" dirty="0">
                <a:solidFill>
                  <a:srgbClr val="2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MAE um 0,20 würde &gt;90% verlangen — physikalisch nicht in den Daten.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539496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Gemeldete Werte ≤ 0,25 deuten auf Messfehler (z. B. ohne Rundung / Leakage) hin.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SephoBay Recommender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029200" cy="5029200"/>
          </a:xfrm>
          <a:prstGeom prst="ellipse">
            <a:avLst/>
          </a:prstGeom>
          <a:solidFill>
            <a:srgbClr val="5E2740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828800"/>
            <a:ext cx="4389120" cy="4389120"/>
          </a:xfrm>
          <a:prstGeom prst="ellipse">
            <a:avLst/>
          </a:prstGeom>
          <a:solidFill>
            <a:srgbClr val="7E3A5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 &amp; EMPFEHLUNG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1887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Nahe am Optimum — und beweisbar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68680" y="2350008"/>
            <a:ext cx="146304" cy="146304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2402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regularisiertes Bias-Modell liefert die robuste Basis.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68680" y="3099816"/>
            <a:ext cx="146304" cy="146304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990088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Gewinne kommen aus einem weichen Content-Signal und der metrik-gerechten Rundung — nicht aus komplexeren Modellen.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68680" y="3849624"/>
            <a:ext cx="146304" cy="146304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739896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Test-MAE 0,29 schlägt alle Baselines und die reinen Kurs-Methoden; das Modell generalisiert sauber.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68680" y="4599432"/>
            <a:ext cx="146304" cy="146304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489704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Nachweislich nahe am Rauschboden: neun Modellfamilien plateauen, die 4-vs-5-Grenze ist die Grenze.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9144000" y="2468880"/>
            <a:ext cx="24688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0" y="27889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0,29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144000" y="3703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Test-MAE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5852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Vielen Dank — Fragen?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SephoBay Recommender System</dc:title>
  <dc:subject>PptxGenJS Presentation</dc:subject>
  <dc:creator>Gruppe SephoBay</dc:creator>
  <cp:lastModifiedBy>Gruppe SephoBay</cp:lastModifiedBy>
  <cp:revision>1</cp:revision>
  <dcterms:created xsi:type="dcterms:W3CDTF">2026-06-15T18:11:20Z</dcterms:created>
  <dcterms:modified xsi:type="dcterms:W3CDTF">2026-06-15T18:11:20Z</dcterms:modified>
</cp:coreProperties>
</file>